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is the Requirements phase. Its exit gate decides whether the design inputs are complete and stable enough to start detailed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phases per the product development procedure PDP-001; no phase starts before the previous exit gate is approved. Package issued 8 Jan 2026; 187 comments dispositioned; 9 of 9 voting members and an independent reviewer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"Met with action" is never used for an item detailed design depends on. Regulatory: 510(k), Class II; EU IVDR Class A under Rule 5, with assays classified separately. Gate 1 actions: beam alignment stability, 561/445 nm laser source, IVD positioning, predicate and pathway, option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user need has at least three system requirements. 32 requirements come only from hazards or standards, for example electrical safety and labeling. Needs come from PRD-CSI-001, 24 interviews at 11 laboratories and predicate complaint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remaining items need data from Development: the carryover study, clog response measured on DV prototypes, and the shipping study. They close in SRS Rev D, the verification baseline in August 2026. None blocks detailed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are held in the requirements tool and the matrix TM-CSI-DT-01 is exported from it, not maintained by hand. SYS-701 to 709 cover user roles, audit trail, electronic signature, locked assays, export, communication loss, locked OS image, SBOM process and data protection; they flow into SRS-SW-CSI-010 Rev D in February (A1).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carries the most requirements of any subsystem, which is why its flow-down (A1) and safety class (A3) are watched closely. The independent reviewer challenged Class B: without an independent HV path, the controller firmware would be Class C. The board accepted Class B conditional on A3.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 risk is before any control. Residual risk is estimated but not credited until the controls are verified. HA-03 was merged into HA-04 in Rev B. A requirement can control more than one hazard (for example SYS-1103 labels), so the bars add to more than 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Rating is likelihood / impact. PR-01 is the top risk: the supplier is a single source for two wavelengths, and nothing today obliges it to tell us about firmware or process changes. Program risks are reviewed monthly; product safety risks are in the risk management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 change requests from June 2025 to January 2026. PDP-001 uses two consecutive months under 5 as the stability indicator for this gate. After the gate, changes go through formal design change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run from today (22 Jan) to each due date; the dashed line is the Gate 3 review in late August. A1 is due first because the software design review depends on it. Actions are tracked in AIL-CSI-G2 and reported at each monthly program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no-go would be warranted if any criterion were not met or an open item blocked detailed design. Neither applies.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1143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REVIEW · GATE 2 OF 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Exit Gate Review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560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Phase (Design Inputs) · CSI-100 Cell Sorting Instrument (IVD)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3246120"/>
          <a:ext cx="9144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9377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requested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 Requirements phase; start Development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date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January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PGR-CSI-G2 Rev 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Atif Lodhi, Systems Engineering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 Research and Development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005840" y="62910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example. Product name, people, document numbers and figures are fictional.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QUESTION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841248"/>
            <a:ext cx="10671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design inputs ready for detailed design?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" y="1481328"/>
            <a:ext cx="10671048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83080"/>
            <a:ext cx="1446058" cy="1097280"/>
          </a:xfrm>
          <a:prstGeom prst="rect">
            <a:avLst/>
          </a:prstGeom>
          <a:solidFill>
            <a:srgbClr val="EFEFEA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9280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67128"/>
            <a:ext cx="1226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96312"/>
            <a:ext cx="1226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Exited Dec 2024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96450" y="1783080"/>
            <a:ext cx="1446058" cy="1097280"/>
          </a:xfrm>
          <a:prstGeom prst="rect">
            <a:avLst/>
          </a:prstGeom>
          <a:solidFill>
            <a:srgbClr val="EFEFEA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06178" y="189280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06178" y="2167128"/>
            <a:ext cx="1226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06178" y="2496312"/>
            <a:ext cx="1226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Exited May 2025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33949" y="1783080"/>
            <a:ext cx="1446058" cy="1097280"/>
          </a:xfrm>
          <a:prstGeom prst="rect">
            <a:avLst/>
          </a:prstGeom>
          <a:solidFill>
            <a:srgbClr val="161616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43677" y="189280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43677" y="2167128"/>
            <a:ext cx="1226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943677" y="2496312"/>
            <a:ext cx="1226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gate today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71447" y="1783080"/>
            <a:ext cx="1446058" cy="109728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481175" y="189280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1175" y="2167128"/>
            <a:ext cx="1226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1175" y="2496312"/>
            <a:ext cx="1226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Aug 2026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08945" y="1783080"/>
            <a:ext cx="1446058" cy="109728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7018673" y="189280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18673" y="2167128"/>
            <a:ext cx="1226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18673" y="2496312"/>
            <a:ext cx="1226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Feb 2027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46443" y="1783080"/>
            <a:ext cx="1446058" cy="109728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556171" y="189280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556171" y="2167128"/>
            <a:ext cx="1226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556171" y="2496312"/>
            <a:ext cx="1226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May 2027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83942" y="1783080"/>
            <a:ext cx="1446058" cy="109728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10093670" y="189280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093670" y="2167128"/>
            <a:ext cx="1226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093670" y="2496312"/>
            <a:ext cx="1226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Jun 2027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" y="3246120"/>
            <a:ext cx="3343656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8952" y="3383280"/>
            <a:ext cx="3343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means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" y="3749040"/>
            <a:ext cx="3343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requirements baseline is frozen under change control and detailed design starts.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22648" y="3246120"/>
            <a:ext cx="3343656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22648" y="3383280"/>
            <a:ext cx="3343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No-go means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422648" y="3749040"/>
            <a:ext cx="3343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criterion is not met or an open item blocks design; the phase continues.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086344" y="3246120"/>
            <a:ext cx="3343656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86344" y="3383280"/>
            <a:ext cx="3343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 deck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086344" y="3749040"/>
            <a:ext cx="3343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evidence slide names the exit criteria it covers and their status, top right.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CSI-100 · Phase 2 Exit Gate Review · PGR-CSI-G2 Rev A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0" y="6291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CRITERIA SCORECARD · 14 CRITERIA FROM PDP-001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841248"/>
            <a:ext cx="10671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met · 5 met with action · 0 not met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" y="1481328"/>
            <a:ext cx="10671048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37360"/>
            <a:ext cx="1446058" cy="182880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40280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needs baselined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1868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96450" y="1737360"/>
            <a:ext cx="1446058" cy="182880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06178" y="1828800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406178" y="2240280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approved, stable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06178" y="2971800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406178" y="321868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4, 10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33949" y="1737360"/>
            <a:ext cx="1446058" cy="182880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43677" y="1828800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943677" y="2240280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Source, allocation, method on each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43677" y="2971800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943677" y="321868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71447" y="1737360"/>
            <a:ext cx="1446058" cy="1828800"/>
          </a:xfrm>
          <a:prstGeom prst="rect">
            <a:avLst/>
          </a:prstGeom>
          <a:solidFill>
            <a:srgbClr val="161616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1175" y="1828800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481175" y="2240280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review closed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1175" y="2971800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A2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1175" y="321868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8945" y="1737360"/>
            <a:ext cx="1446058" cy="182880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8673" y="1828800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018673" y="2240280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traced to requirements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18673" y="2971800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018673" y="321868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46443" y="1737360"/>
            <a:ext cx="1446058" cy="1828800"/>
          </a:xfrm>
          <a:prstGeom prst="rect">
            <a:avLst/>
          </a:prstGeom>
          <a:solidFill>
            <a:srgbClr val="161616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56171" y="1828800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556171" y="2240280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flow-down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556171" y="2971800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A1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556171" y="321868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983942" y="1737360"/>
            <a:ext cx="1446058" cy="1828800"/>
          </a:xfrm>
          <a:prstGeom prst="rect">
            <a:avLst/>
          </a:prstGeom>
          <a:solidFill>
            <a:srgbClr val="161616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93670" y="1828800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10093670" y="2240280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interfaces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093670" y="2971800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A5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093670" y="321868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58952" y="3675888"/>
            <a:ext cx="1446058" cy="1828800"/>
          </a:xfrm>
          <a:prstGeom prst="rect">
            <a:avLst/>
          </a:prstGeom>
          <a:solidFill>
            <a:srgbClr val="161616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68680" y="3767328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868680" y="4178808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safety class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68680" y="491032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A3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157216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296450" y="3675888"/>
            <a:ext cx="1446058" cy="1828800"/>
          </a:xfrm>
          <a:prstGeom prst="rect">
            <a:avLst/>
          </a:prstGeom>
          <a:solidFill>
            <a:srgbClr val="161616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06178" y="3767328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2406178" y="4178808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Hazards and risk controls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2406178" y="491032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A4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2406178" y="5157216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833949" y="3675888"/>
            <a:ext cx="1446058" cy="182880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943677" y="3767328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52" name="Text 50"/>
          <p:cNvSpPr txBox="1"/>
          <p:nvPr/>
        </p:nvSpPr>
        <p:spPr>
          <a:xfrm>
            <a:off x="3943677" y="4178808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pathway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3943677" y="491032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3943677" y="5157216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RS-CSI-001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371447" y="3675888"/>
            <a:ext cx="1446058" cy="182880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81175" y="3767328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57" name="Text 55"/>
          <p:cNvSpPr txBox="1"/>
          <p:nvPr/>
        </p:nvSpPr>
        <p:spPr>
          <a:xfrm>
            <a:off x="5481175" y="4178808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strategy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5481175" y="491032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5481175" y="5157216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VVS-CSI-001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908945" y="3675888"/>
            <a:ext cx="1446058" cy="182880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018673" y="3767328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000" dirty="0"/>
          </a:p>
        </p:txBody>
      </p:sp>
      <p:sp>
        <p:nvSpPr>
          <p:cNvPr id="62" name="Text 60"/>
          <p:cNvSpPr txBox="1"/>
          <p:nvPr/>
        </p:nvSpPr>
        <p:spPr>
          <a:xfrm>
            <a:off x="7018673" y="4178808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risks owned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7018673" y="491032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7018673" y="5157216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446443" y="3675888"/>
            <a:ext cx="1446058" cy="182880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556171" y="3767328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000" dirty="0"/>
          </a:p>
        </p:txBody>
      </p:sp>
      <p:sp>
        <p:nvSpPr>
          <p:cNvPr id="67" name="Text 65"/>
          <p:cNvSpPr txBox="1"/>
          <p:nvPr/>
        </p:nvSpPr>
        <p:spPr>
          <a:xfrm>
            <a:off x="8556171" y="4178808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 actions closed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8556171" y="491032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8556171" y="5157216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5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983942" y="3675888"/>
            <a:ext cx="1446058" cy="182880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093670" y="3767328"/>
            <a:ext cx="1226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000" dirty="0"/>
          </a:p>
        </p:txBody>
      </p:sp>
      <p:sp>
        <p:nvSpPr>
          <p:cNvPr id="72" name="Text 70"/>
          <p:cNvSpPr txBox="1"/>
          <p:nvPr/>
        </p:nvSpPr>
        <p:spPr>
          <a:xfrm>
            <a:off x="10093670" y="4178808"/>
            <a:ext cx="1226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Resources, schedule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093670" y="4910328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10093670" y="5157216"/>
            <a:ext cx="1226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PMP-CSI-001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758952" y="5669280"/>
            <a:ext cx="228600" cy="22860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078992" y="5650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1764792" y="5669280"/>
            <a:ext cx="228600" cy="2286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2084832" y="56509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with action: satisfied for detailed design; remaining work owned and due before Gate 3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758952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CSI-100 · Phase 2 Exit Gate Review · PGR-CSI-G2 Rev A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10058400" y="6291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1, 2 · DESIGN INPUT BASELINE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8412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user needs refined into 142 requirements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843138" y="914400"/>
            <a:ext cx="586862" cy="36576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58952" y="1481328"/>
            <a:ext cx="10671048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6459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requirements derived from each user need (SRS-CSI-001 Rev C)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UN-07 Installation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52344" y="1971446"/>
            <a:ext cx="3291840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17336" y="1920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UN-01 Accurate counts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52344" y="2227478"/>
            <a:ext cx="2710927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36423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2432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UN-09 Guided use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52344" y="2483510"/>
            <a:ext cx="2323652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49148" y="2432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26883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UN-08 Daily QC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52344" y="2739542"/>
            <a:ext cx="1936376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61872" y="26883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2944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UN-10 Records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52344" y="2995574"/>
            <a:ext cx="1936376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61872" y="2944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3200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UN-13 US, EU IVD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52344" y="3251606"/>
            <a:ext cx="1742739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68235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UN-12 Service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52344" y="3507638"/>
            <a:ext cx="1549101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74597" y="34564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" y="3712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UN-02 Sort purity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52344" y="3763670"/>
            <a:ext cx="1355464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180960" y="37124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3968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UN-05 Plates, slides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52344" y="4019702"/>
            <a:ext cx="1355464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180960" y="3968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58952" y="4224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UN-04 Throughput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52344" y="4275734"/>
            <a:ext cx="1161826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987322" y="4224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" y="4480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UN-03 Multicolor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52344" y="4531766"/>
            <a:ext cx="968188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793684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58952" y="4736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UN-06 Safe use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52344" y="4787798"/>
            <a:ext cx="968188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793684" y="4736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58952" y="49926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UN-15 Cell sizes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52344" y="5043830"/>
            <a:ext cx="968188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793684" y="49926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58952" y="52486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UN-16 Optics options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752344" y="5299862"/>
            <a:ext cx="968188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793684" y="52486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58952" y="55046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UN-11 Temperature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752344" y="5555894"/>
            <a:ext cx="580913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406409" y="5504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58952" y="5760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UN-14 Carryover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752344" y="5811926"/>
            <a:ext cx="580913" cy="15361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406409" y="5760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068312" y="1645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142 come from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7068312" y="1920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needs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467344" y="1978762"/>
            <a:ext cx="2286000" cy="175565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826496" y="1920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7068312" y="22128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467344" y="2271370"/>
            <a:ext cx="685800" cy="175565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9226296" y="2212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7068312" y="25054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467344" y="2563978"/>
            <a:ext cx="270164" cy="175565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810660" y="2505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7068312" y="2971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will be verified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7068312" y="3246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467344" y="3304642"/>
            <a:ext cx="1454727" cy="175565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995223" y="3246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7068312" y="35387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467344" y="3597250"/>
            <a:ext cx="685800" cy="175565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9226296" y="3538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7068312" y="38313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8467344" y="3889858"/>
            <a:ext cx="623455" cy="175565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163951" y="3831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7068312" y="4123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8467344" y="4182466"/>
            <a:ext cx="228600" cy="175565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8769096" y="4123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7068312" y="4526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requirement can have more than one source or method. User needs unchanged since Gate 1.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758952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CSI-100 · Phase 2 Exit Gate Review · PGR-CSI-G2 Rev A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10058400" y="6291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4 · REQUIREMENT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8412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61 findings closed; 3 values still to confirm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590227" y="914400"/>
            <a:ext cx="1839773" cy="365760"/>
          </a:xfrm>
          <a:prstGeom prst="rect">
            <a:avLst/>
          </a:prstGeom>
          <a:solidFill>
            <a:srgbClr val="161616"/>
          </a:solidFill>
          <a:ln w="19050">
            <a:solidFill>
              <a:srgbClr val="1616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with action · A2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58952" y="1481328"/>
            <a:ext cx="10671048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6459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by type (two reviewers per section, INCOSE writing rules)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19202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term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9544" y="1982419"/>
            <a:ext cx="2377440" cy="18653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0136" y="19202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2311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requirements in 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9544" y="2293315"/>
            <a:ext cx="1849120" cy="18653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31816" y="22311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25420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tolerance or units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9544" y="2604211"/>
            <a:ext cx="1584960" cy="18653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67656" y="25420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28529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pass/fail criterion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9544" y="2915107"/>
            <a:ext cx="1188720" cy="18653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71416" y="2852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31638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a solution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9544" y="3226003"/>
            <a:ext cx="1056640" cy="18653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39336" y="31638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was corrected in SRS Rev C and re-checked.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977640"/>
            <a:ext cx="5394960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to be confirmed (TBR) or defined (TBD)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4434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TBR-01 · SYS-471 carryover limit: 1.0% held, 0.5% target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TBR-02 · SYS-543 clog response: 5 s held, 2 s target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TBD-03 · Section 12 transport and installation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59752" y="16459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TBD and TBR items by SRS revision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42632" y="2194560"/>
            <a:ext cx="731520" cy="292608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59752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068312" y="51937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14232" y="3479180"/>
            <a:ext cx="731520" cy="164146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31352" y="31591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439912" y="51937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85832" y="4906537"/>
            <a:ext cx="731520" cy="214103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02952" y="458649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811512" y="51937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59752" y="5120640"/>
            <a:ext cx="4206240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8952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CSI-100 · Phase 2 Exit Gate Review · PGR-CSI-G2 Rev 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058400" y="6291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3, 5, 6 · TRACEABILITY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8412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of nine trace links are complete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590227" y="914400"/>
            <a:ext cx="1839773" cy="365760"/>
          </a:xfrm>
          <a:prstGeom prst="rect">
            <a:avLst/>
          </a:prstGeom>
          <a:solidFill>
            <a:srgbClr val="161616"/>
          </a:solidFill>
          <a:ln w="19050">
            <a:solidFill>
              <a:srgbClr val="1616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with action · A1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58952" y="1481328"/>
            <a:ext cx="10671048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7373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need → system requirement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82312" y="1792224"/>
            <a:ext cx="4480560" cy="201168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82312" y="1792224"/>
            <a:ext cx="4480560" cy="20116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400032" y="17373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1396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requirement → source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82312" y="2194560"/>
            <a:ext cx="4480560" cy="201168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2194560"/>
            <a:ext cx="4480560" cy="20116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00032" y="21396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/ 142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25420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requirement → allocation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82312" y="2596896"/>
            <a:ext cx="4480560" cy="201168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82312" y="2596896"/>
            <a:ext cx="4480560" cy="20116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00032" y="25420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/ 142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29443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requirement → verification method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82312" y="2999232"/>
            <a:ext cx="4480560" cy="201168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82312" y="2999232"/>
            <a:ext cx="4480560" cy="20116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00032" y="29443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/ 142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33467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→ control requirement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82312" y="3401568"/>
            <a:ext cx="4480560" cy="201168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82312" y="3401568"/>
            <a:ext cx="4480560" cy="20116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00032" y="33467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37490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requirement ← SS-10 requirement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82312" y="3803904"/>
            <a:ext cx="4480560" cy="201168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82312" y="3803904"/>
            <a:ext cx="3419375" cy="20116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00032" y="3749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38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" y="41513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requirement → parent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82312" y="4206240"/>
            <a:ext cx="4480560" cy="201168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82312" y="4206240"/>
            <a:ext cx="4480560" cy="20116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00032" y="41513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 / 131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58952" y="45537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requirement → software item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82312" y="4608576"/>
            <a:ext cx="4480560" cy="201168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82312" y="4608576"/>
            <a:ext cx="4480560" cy="20116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400032" y="4553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 / 131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58952" y="4956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need → planned validation study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82312" y="5010912"/>
            <a:ext cx="4480560" cy="201168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82312" y="5010912"/>
            <a:ext cx="4480560" cy="20116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400032" y="4956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" y="5486400"/>
            <a:ext cx="10671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SYS-701 to 709 (Part 11 and cybersecurity), added in SRS Rev C this month. Links to design outputs and test protocols are Gate 3 criteria.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58952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CSI-100 · Phase 2 Exit Gate Review · PGR-CSI-G2 Rev A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058400" y="6291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7, 8 · ARCHITECTURE AND SOFTWARE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8412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requirement has a home in the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95425" y="914400"/>
            <a:ext cx="2134575" cy="365760"/>
          </a:xfrm>
          <a:prstGeom prst="rect">
            <a:avLst/>
          </a:prstGeom>
          <a:solidFill>
            <a:srgbClr val="161616"/>
          </a:solidFill>
          <a:ln w="19050">
            <a:solidFill>
              <a:srgbClr val="1616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with action · A3, A5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58952" y="1481328"/>
            <a:ext cx="10671048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6459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requirements allocated to each subsystem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level (no one owner)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26664" y="1975104"/>
            <a:ext cx="3017520" cy="164592"/>
          </a:xfrm>
          <a:prstGeom prst="rect">
            <a:avLst/>
          </a:prstGeom>
          <a:solidFill>
            <a:srgbClr val="9A9A9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17336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SS-10 Software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26664" y="2249424"/>
            <a:ext cx="2940148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9964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SS-01 Fluidics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26664" y="2523744"/>
            <a:ext cx="1470074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6989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SS-06 Electronics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26664" y="2798064"/>
            <a:ext cx="1315329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15145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SS-07 Sort mechanism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26664" y="3072384"/>
            <a:ext cx="1237957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37773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SS-04 Excitation optics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26664" y="3346704"/>
            <a:ext cx="1083212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183028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SS-05 Detection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26664" y="3621024"/>
            <a:ext cx="696351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796167" y="3566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SS-02 Sample delivery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26664" y="3895344"/>
            <a:ext cx="618978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718794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SS-08 Sort collection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26664" y="4169664"/>
            <a:ext cx="541606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641422" y="4114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58952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SS-03 Flow cell, nozzle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26664" y="4443984"/>
            <a:ext cx="386862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486678" y="4389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" y="4663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SS-09 Aerosol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026664" y="4718304"/>
            <a:ext cx="232117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331933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58952" y="50292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requirements count once per subsystem. Interfaces: 7 of 8 ICDs released; fluidics umbilical ICD-CSI-003 in draft (A5).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51192" y="1737360"/>
            <a:ext cx="4160520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51192" y="1828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baseline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251192" y="21488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 software requirements, 12 software items, 14 SOUP components.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51192" y="2971800"/>
            <a:ext cx="4160520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251192" y="30632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62304 Class B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251192" y="33832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Laser, pressure and motion hazards are stopped by hardware; wrong results by QC and assay controls.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251192" y="4206240"/>
            <a:ext cx="4160520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251192" y="42976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(A3)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7251192" y="4617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controller firmware removes high voltage today. An independent hardware safety supervisor is added in SAD Rev B.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58952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CSI-100 · Phase 2 Exit Gate Review · PGR-CSI-G2 Rev A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058400" y="6291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9 · PRODUCT HAZARDS (HA-CSI-001 REV B)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8412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hazard is controlled by requirements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590227" y="914400"/>
            <a:ext cx="1839773" cy="365760"/>
          </a:xfrm>
          <a:prstGeom prst="rect">
            <a:avLst/>
          </a:prstGeom>
          <a:solidFill>
            <a:srgbClr val="161616"/>
          </a:solidFill>
          <a:ln w="19050">
            <a:solidFill>
              <a:srgbClr val="1616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with action · A4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58952" y="1481328"/>
            <a:ext cx="10671048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645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risk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07992" y="1645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requirements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1901952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HA-04 Infectious aerosol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44952" y="190195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Unacceptable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07992" y="1956816"/>
            <a:ext cx="1920240" cy="15544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19672" y="1901952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216712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HA-01 Laser radiation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44952" y="216712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Unacceptable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07992" y="2221992"/>
            <a:ext cx="1536192" cy="15544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35624" y="2167128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" y="2432304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HA-02 High voltage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44952" y="243230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Unacceptable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07992" y="2487168"/>
            <a:ext cx="1536192" cy="15544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35624" y="243230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269748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HA-08 Incorrect result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044952" y="2697480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Unacceptable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07992" y="2752344"/>
            <a:ext cx="1536192" cy="15544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35624" y="2697480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2962656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HA-07 Wrong sort output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044952" y="2962656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Unacceptable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07992" y="3017520"/>
            <a:ext cx="768096" cy="15544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367528" y="2962656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3227832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HA-05 Sort chamber access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44952" y="322783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Unacceptable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07992" y="3282696"/>
            <a:ext cx="384048" cy="15544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983480" y="3227832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" y="349300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HA-15 Fluid run-out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044952" y="349300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Unacceptable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07992" y="3547872"/>
            <a:ext cx="384048" cy="15544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983480" y="3493008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" y="3758184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HA-12 Mains, fire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044952" y="375818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07992" y="3813048"/>
            <a:ext cx="1536192" cy="155448"/>
          </a:xfrm>
          <a:prstGeom prst="rect">
            <a:avLst/>
          </a:prstGeom>
          <a:solidFill>
            <a:srgbClr val="8A8A8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135624" y="375818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" y="402336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HA-09 Stored pressure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044952" y="4023360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07992" y="4078224"/>
            <a:ext cx="768096" cy="155448"/>
          </a:xfrm>
          <a:prstGeom prst="rect">
            <a:avLst/>
          </a:prstGeom>
          <a:solidFill>
            <a:srgbClr val="8A8A8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367528" y="4023360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58952" y="4288536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HA-14 Misconnection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3044952" y="4288536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07992" y="4343400"/>
            <a:ext cx="768096" cy="155448"/>
          </a:xfrm>
          <a:prstGeom prst="rect">
            <a:avLst/>
          </a:prstGeom>
          <a:solidFill>
            <a:srgbClr val="8A8A8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367528" y="4288536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58952" y="4553712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HA-13 EMC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3044952" y="455371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07992" y="4608576"/>
            <a:ext cx="384048" cy="155448"/>
          </a:xfrm>
          <a:prstGeom prst="rect">
            <a:avLst/>
          </a:prstGeom>
          <a:solidFill>
            <a:srgbClr val="8A8A84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983480" y="4553712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58952" y="481888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HA-06 Moving parts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3044952" y="481888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07992" y="4873752"/>
            <a:ext cx="1920240" cy="155448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19672" y="4818888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758952" y="5084064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HA-10 Chemicals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3044952" y="508406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07992" y="5138928"/>
            <a:ext cx="384048" cy="155448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983480" y="50840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758952" y="534924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HA-11 Mass, stability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3044952" y="5349240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507992" y="5404104"/>
            <a:ext cx="384048" cy="155448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983480" y="5349240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708392" y="1737360"/>
            <a:ext cx="3703320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708392" y="18288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3200" dirty="0"/>
          </a:p>
        </p:txBody>
      </p:sp>
      <p:sp>
        <p:nvSpPr>
          <p:cNvPr id="67" name="Text 65"/>
          <p:cNvSpPr txBox="1"/>
          <p:nvPr/>
        </p:nvSpPr>
        <p:spPr>
          <a:xfrm>
            <a:off x="7708392" y="2395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hazards with at least one control requirement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708392" y="3017520"/>
            <a:ext cx="3703320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708392" y="31089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3200" dirty="0"/>
          </a:p>
        </p:txBody>
      </p:sp>
      <p:sp>
        <p:nvSpPr>
          <p:cNvPr id="70" name="Text 68"/>
          <p:cNvSpPr txBox="1"/>
          <p:nvPr/>
        </p:nvSpPr>
        <p:spPr>
          <a:xfrm>
            <a:off x="7708392" y="367588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requirements are risk controls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7708392" y="4297680"/>
            <a:ext cx="3703320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708392" y="438912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(A4)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708392" y="4709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threats not yet a hazard source.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758952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CSI-100 · Phase 2 Exit Gate Review · PGR-CSI-G2 Rev A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10058400" y="6291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12 · PROGRAM RISKS (RR-CSI-001)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8412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risks, each with an owner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843138" y="914400"/>
            <a:ext cx="586862" cy="36576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58952" y="1481328"/>
            <a:ext cx="10671048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36192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19659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36192" y="1965960"/>
            <a:ext cx="1097280" cy="914400"/>
          </a:xfrm>
          <a:prstGeom prst="rect">
            <a:avLst/>
          </a:prstGeom>
          <a:solidFill>
            <a:srgbClr val="D8D8D2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965960"/>
            <a:ext cx="1097280" cy="914400"/>
          </a:xfrm>
          <a:prstGeom prst="rect">
            <a:avLst/>
          </a:prstGeom>
          <a:solidFill>
            <a:srgbClr val="8A8A84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1965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58768" y="1965960"/>
            <a:ext cx="1097280" cy="914400"/>
          </a:xfrm>
          <a:prstGeom prst="rect">
            <a:avLst/>
          </a:prstGeom>
          <a:solidFill>
            <a:srgbClr val="161616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44368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36192" y="2944368"/>
            <a:ext cx="1097280" cy="914400"/>
          </a:xfrm>
          <a:prstGeom prst="rect">
            <a:avLst/>
          </a:prstGeom>
          <a:solidFill>
            <a:srgbClr val="EFEFEA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2944368"/>
            <a:ext cx="1097280" cy="914400"/>
          </a:xfrm>
          <a:prstGeom prst="rect">
            <a:avLst/>
          </a:prstGeom>
          <a:solidFill>
            <a:srgbClr val="D8D8D2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97480" y="294436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PR-04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PR-06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58768" y="2944368"/>
            <a:ext cx="1097280" cy="914400"/>
          </a:xfrm>
          <a:prstGeom prst="rect">
            <a:avLst/>
          </a:prstGeom>
          <a:solidFill>
            <a:srgbClr val="8A8A84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58768" y="294436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PR-01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PR-02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3922776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536192" y="3922776"/>
            <a:ext cx="1097280" cy="91440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7480" y="3922776"/>
            <a:ext cx="1097280" cy="914400"/>
          </a:xfrm>
          <a:prstGeom prst="rect">
            <a:avLst/>
          </a:prstGeom>
          <a:solidFill>
            <a:srgbClr val="EFEFEA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58768" y="3922776"/>
            <a:ext cx="1097280" cy="914400"/>
          </a:xfrm>
          <a:prstGeom prst="rect">
            <a:avLst/>
          </a:prstGeom>
          <a:solidFill>
            <a:srgbClr val="D8D8D2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58768" y="3922776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PR-05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4983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Rows: likelihood · Columns: impact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0952" y="1691640"/>
          <a:ext cx="9144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474720"/>
                <a:gridCol w="1234440"/>
                <a:gridCol w="685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and mitigation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laser supplier; second source and change notice clause (A6)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/ 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Purity at 70 µm, 4-way sort; margin study Apr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R&amp;D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/ 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Options add 6 weeks; separate work package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 /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 Part 11 and security scope; A1, SAD Rev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/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Thermal margin, 6 lasers at 30 °C; confirm on DV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R&amp;D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 / 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IVDR notified body capacity for assays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/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758952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CSI-100 · Phase 2 Exit Gate Review · PGR-CSI-G2 Rev A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0" y="6291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2 · REQUIREMENT STABILITY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8412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are below threshold for two months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843138" y="914400"/>
            <a:ext cx="586862" cy="36576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58952" y="1481328"/>
            <a:ext cx="10671048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6459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requirement change requests per month, Jun 2025 to Jan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24712" y="3455126"/>
            <a:ext cx="411480" cy="1939834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316251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5468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47672" y="2377440"/>
            <a:ext cx="411480" cy="301752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64792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64792" y="5468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70632" y="3024051"/>
            <a:ext cx="411480" cy="2370909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87752" y="2731443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587752" y="5468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93592" y="3886200"/>
            <a:ext cx="411480" cy="150876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10712" y="35935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10712" y="5468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16552" y="2808514"/>
            <a:ext cx="411480" cy="2586446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33672" y="251590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33672" y="5468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39512" y="4101737"/>
            <a:ext cx="411480" cy="1293223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56632" y="3809129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56632" y="5468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62472" y="4532811"/>
            <a:ext cx="411480" cy="862149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79592" y="4240203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79592" y="5468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85432" y="4963886"/>
            <a:ext cx="411480" cy="431074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02552" y="467127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02552" y="5468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" y="5394960"/>
            <a:ext cx="6766560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" y="4317274"/>
            <a:ext cx="6766560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5513832" y="402466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Threshold: 5 per month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165592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B (117) to Rev C (142)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65592" y="1920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53144" y="1986077"/>
            <a:ext cx="1417320" cy="19751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643616" y="19202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165592" y="22494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53144" y="2315261"/>
            <a:ext cx="2011680" cy="19751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1237976" y="22494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165592" y="2578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153144" y="2644445"/>
            <a:ext cx="274320" cy="19751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500616" y="25786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165592" y="3108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October peak is the option scope decision (aerosol, plates, temperature). Outlined bars are under threshold.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58952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CSI-100 · Phase 2 Exit Gate Review · PGR-CSI-G2 Rev A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058400" y="6291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CARRIED ACTIONS · PATH TO GATE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8412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actions, all due before Gate 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327234" y="914400"/>
            <a:ext cx="1102766" cy="365760"/>
          </a:xfrm>
          <a:prstGeom prst="rect">
            <a:avLst/>
          </a:prstGeom>
          <a:solidFill>
            <a:srgbClr val="FAFAF7"/>
          </a:solidFill>
          <a:ln w="19050">
            <a:solidFill>
              <a:srgbClr val="1616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blocking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58952" y="1481328"/>
            <a:ext cx="10671048" cy="0"/>
          </a:xfrm>
          <a:prstGeom prst="line">
            <a:avLst/>
          </a:prstGeom>
          <a:noFill/>
          <a:ln w="1905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· owner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991553" y="1691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833460" y="1691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5571" y="1691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67615" y="1691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9726" y="1691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501769" y="1691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433881" y="1691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258735" y="16916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</a:t>
            </a:r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flow-down of SYS-701 to 709 · P. Nair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2066544"/>
            <a:ext cx="1082452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28188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Feb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2340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</a:t>
            </a:r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umbilical ICD-CSI-003 · J. Whitfield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90872" y="2395728"/>
            <a:ext cx="1713882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59618" y="23408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Mar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</a:t>
            </a:r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HV safety supervisor · P. Nair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90872" y="2724912"/>
            <a:ext cx="2044631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90367" y="26700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Mar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</a:t>
            </a:r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threats in hazard analysis · M. Serrano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90872" y="3054096"/>
            <a:ext cx="2946675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92411" y="2999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Apr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3328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 </a:t>
            </a:r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second source, change notice · Supply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90872" y="3383280"/>
            <a:ext cx="4780829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26565" y="33284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Jun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A7 </a:t>
            </a:r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V&amp;V plan VVP-CSI-001 · V&amp;V lead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90872" y="3712464"/>
            <a:ext cx="5712941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458677" y="3657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Jul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</a:t>
            </a:r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TBR-01, TBR-02, TBD-03 · A. Lodhi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90872" y="4041648"/>
            <a:ext cx="6133894" cy="16459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879630" y="3986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Aug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1185583" y="1965960"/>
            <a:ext cx="0" cy="2011680"/>
          </a:xfrm>
          <a:prstGeom prst="line">
            <a:avLst/>
          </a:prstGeom>
          <a:noFill/>
          <a:ln w="19050">
            <a:solidFill>
              <a:srgbClr val="161616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758952" y="4572000"/>
            <a:ext cx="51526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items: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found in pre-review (an interlock requirement with no verification method; conflicting HV limits), both fixed in SRS Rev C.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277356" y="4572000"/>
            <a:ext cx="51526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3 requires: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TBD or TBR, every requirement traced to a design output and a test protocol, and A1 to A7 closed.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58952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CSI-100 · Phase 2 Exit Gate Review · PGR-CSI-G2 Rev A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058400" y="6291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097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EXIT GATE · RECOMMENDATION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554480"/>
            <a:ext cx="10671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Go: exit Phase 2, start Development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383280"/>
            <a:ext cx="10671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criterion is unmet and nothing blocks detailed design.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" y="4206240"/>
            <a:ext cx="3343656" cy="0"/>
          </a:xfrm>
          <a:prstGeom prst="line">
            <a:avLst/>
          </a:prstGeom>
          <a:noFill/>
          <a:ln w="19050">
            <a:solidFill>
              <a:srgbClr val="FAFA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4315968"/>
            <a:ext cx="3343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the baseline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663440"/>
            <a:ext cx="3343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SRS Rev C and HA-CSI-001 Rev B go under design change control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22648" y="4206240"/>
            <a:ext cx="3343656" cy="0"/>
          </a:xfrm>
          <a:prstGeom prst="line">
            <a:avLst/>
          </a:prstGeom>
          <a:noFill/>
          <a:ln w="19050">
            <a:solidFill>
              <a:srgbClr val="FAFA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22648" y="4315968"/>
            <a:ext cx="3343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the conditions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22648" y="4663440"/>
            <a:ext cx="3343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to A7 reported at each monthly program review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6344" y="4206240"/>
            <a:ext cx="3343656" cy="0"/>
          </a:xfrm>
          <a:prstGeom prst="line">
            <a:avLst/>
          </a:prstGeom>
          <a:noFill/>
          <a:ln w="19050">
            <a:solidFill>
              <a:srgbClr val="FAFA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86344" y="4315968"/>
            <a:ext cx="3343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86344" y="4663440"/>
            <a:ext cx="3343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exit, the verification baseline, August 2026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CSI-100 · Phase 2 Exit Gate Review · PGR-CSI-G2 Rev 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6291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CSI-100 Phase 2 Exit Gate Review</dc:title>
  <dc:subject>PptxGenJS Presentation</dc:subject>
  <dc:creator>Atif Lodhi</dc:creator>
  <cp:lastModifiedBy>Atif Lodhi</cp:lastModifiedBy>
  <cp:revision>1</cp:revision>
  <dcterms:created xsi:type="dcterms:W3CDTF">2026-09-29T02:21:55Z</dcterms:created>
  <dcterms:modified xsi:type="dcterms:W3CDTF">2026-09-29T02:21:55Z</dcterms:modified>
</cp:coreProperties>
</file>